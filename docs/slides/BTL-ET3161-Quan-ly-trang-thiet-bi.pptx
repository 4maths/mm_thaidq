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31A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21040" y="-2377440"/>
            <a:ext cx="6766560" cy="6766560"/>
          </a:xfrm>
          <a:prstGeom prst="ellipse">
            <a:avLst/>
          </a:prstGeom>
          <a:solidFill>
            <a:srgbClr val="1A2E33"/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-1097280"/>
            <a:ext cx="4206240" cy="4206240"/>
          </a:xfrm>
          <a:prstGeom prst="ellipse">
            <a:avLst/>
          </a:prstGeom>
          <a:solidFill>
            <a:srgbClr val="22424A"/>
          </a:solidFill>
          <a:ln/>
        </p:spPr>
      </p:sp>
      <p:sp>
        <p:nvSpPr>
          <p:cNvPr id="4" name="Shape 2"/>
          <p:cNvSpPr/>
          <p:nvPr/>
        </p:nvSpPr>
        <p:spPr>
          <a:xfrm>
            <a:off x="10789920" y="91440"/>
            <a:ext cx="2011680" cy="2011680"/>
          </a:xfrm>
          <a:prstGeom prst="ellipse">
            <a:avLst/>
          </a:prstGeom>
          <a:solidFill>
            <a:srgbClr val="AE8D3C">
              <a:alpha val="75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37160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6F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BÀI TẬP LỚN · ET3161 — PHÂN TÍCH VÀ THIẾT KẾ HỆ THỐNG PHẦN MỀM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1828800"/>
            <a:ext cx="106984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8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Hệ thống hỗ trợ quy trình</a:t>
            </a:r>
            <a:endParaRPr lang="en-US" sz="4800" dirty="0"/>
          </a:p>
          <a:p>
            <a:pPr indent="0" marL="0">
              <a:lnSpc>
                <a:spcPts val="58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Quản lý Trang thiết bị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731520" y="406908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AE8D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QT.QLD.09.01</a:t>
            </a:r>
            <a:pPr indent="0" marL="0">
              <a:buNone/>
            </a:pPr>
            <a:r>
              <a:rPr lang="en-US" sz="1700" dirty="0">
                <a:solidFill>
                  <a:srgbClr val="9FB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Cục Quản lý Dược — Bộ Y tế  ·  Số hóa 4 biểu mẫu BM.QLD.09.01/01 → /04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777240" y="4800600"/>
            <a:ext cx="2926080" cy="0"/>
          </a:xfrm>
          <a:prstGeom prst="line">
            <a:avLst/>
          </a:prstGeom>
          <a:noFill/>
          <a:ln w="31750">
            <a:solidFill>
              <a:srgbClr val="AE8D3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498348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FB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Sinh viên: ....................   ·   MSSV: ....................   ·   GVHD: ....................   ·   Hà Nội, 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9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AE8D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KHẢO SÁT QUY TRÌNH HIỆN TẠI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55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5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Quản lý thiết bị đang vận hành hoàn toàn trên giấy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1828800"/>
            <a:ext cx="26517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0" b="1" dirty="0">
                <a:solidFill>
                  <a:srgbClr val="AE8D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600" dirty="0"/>
          </a:p>
        </p:txBody>
      </p:sp>
      <p:sp>
        <p:nvSpPr>
          <p:cNvPr id="5" name="Text 3"/>
          <p:cNvSpPr/>
          <p:nvPr/>
        </p:nvSpPr>
        <p:spPr>
          <a:xfrm>
            <a:off x="548640" y="3520440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biểu mẫu giấy/Excel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64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BM.QLD.09.01/01 → /04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566160" y="1965960"/>
            <a:ext cx="0" cy="3977640"/>
          </a:xfrm>
          <a:prstGeom prst="line">
            <a:avLst/>
          </a:prstGeom>
          <a:noFill/>
          <a:ln w="12700">
            <a:solidFill>
              <a:srgbClr val="E2E6E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977640" y="1783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AE8D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4572000" y="1801368"/>
            <a:ext cx="7086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E25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Hồ sơ phân tán   </a:t>
            </a:r>
            <a:pPr indent="0" marL="0">
              <a:buNone/>
            </a:pPr>
            <a:r>
              <a:rPr lang="en-US" sz="1350" dirty="0">
                <a:solidFill>
                  <a:srgbClr val="64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Mỗi đơn vị giữ danh mục, hồ sơ riêng — mất đồng bộ với danh mục tổng của Văn phòng Cục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572000" y="2542032"/>
            <a:ext cx="6949440" cy="0"/>
          </a:xfrm>
          <a:prstGeom prst="line">
            <a:avLst/>
          </a:prstGeom>
          <a:noFill/>
          <a:ln w="9525">
            <a:solidFill>
              <a:srgbClr val="E2E6E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977640" y="26791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AE8D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4572000" y="2697480"/>
            <a:ext cx="7086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E25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Không truy vết   </a:t>
            </a:r>
            <a:pPr indent="0" marL="0">
              <a:buNone/>
            </a:pPr>
            <a:r>
              <a:rPr lang="en-US" sz="1350" dirty="0">
                <a:solidFill>
                  <a:srgbClr val="64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Cập nhật BM/02 thủ công, không bắt buộc — Ban QMS khó kiểm tra tuân thủ ISO 9001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572000" y="3438144"/>
            <a:ext cx="6949440" cy="0"/>
          </a:xfrm>
          <a:prstGeom prst="line">
            <a:avLst/>
          </a:prstGeom>
          <a:noFill/>
          <a:ln w="9525">
            <a:solidFill>
              <a:srgbClr val="E2E6E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977640" y="357530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AE8D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4572000" y="3593592"/>
            <a:ext cx="7086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E25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Bỏ sót bảo dưỡng   </a:t>
            </a:r>
            <a:pPr indent="0" marL="0">
              <a:buNone/>
            </a:pPr>
            <a:r>
              <a:rPr lang="en-US" sz="1350" dirty="0">
                <a:solidFill>
                  <a:srgbClr val="64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Kế hoạch năm lưu 1 năm, không nhắc lịch — hạng mục đến hạn dễ bị quên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572000" y="4334256"/>
            <a:ext cx="6949440" cy="0"/>
          </a:xfrm>
          <a:prstGeom prst="line">
            <a:avLst/>
          </a:prstGeom>
          <a:noFill/>
          <a:ln w="9525">
            <a:solidFill>
              <a:srgbClr val="E2E6E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977640" y="447141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AE8D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4572000" y="4489704"/>
            <a:ext cx="7086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E25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Phê duyệt chậm   </a:t>
            </a:r>
            <a:pPr indent="0" marL="0">
              <a:buNone/>
            </a:pPr>
            <a:r>
              <a:rPr lang="en-US" sz="1350" dirty="0">
                <a:solidFill>
                  <a:srgbClr val="64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Văn bản giấy đi qua 3 cấp, không theo dõi được trạng thái xử lý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4572000" y="5230368"/>
            <a:ext cx="6949440" cy="0"/>
          </a:xfrm>
          <a:prstGeom prst="line">
            <a:avLst/>
          </a:prstGeom>
          <a:noFill/>
          <a:ln w="9525">
            <a:solidFill>
              <a:srgbClr val="E2E6E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977640" y="536752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AE8D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4572000" y="5385816"/>
            <a:ext cx="7086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E25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Nghiệm thu khó tra cứu   </a:t>
            </a:r>
            <a:pPr indent="0" marL="0">
              <a:buNone/>
            </a:pPr>
            <a:r>
              <a:rPr lang="en-US" sz="1350" dirty="0">
                <a:solidFill>
                  <a:srgbClr val="64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Biên bản lưu 1 năm tại đơn vị — tranh chấp nhà thầu, không thống kê được chi phí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9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AE8D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QT.QLD.09.01 — MỤC 6.2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55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5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Hai luồng nghiệp vụ gốc và một điểm rẽ nhánh then chốt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157276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6F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LUỒNG A — XỬ LÝ SỰ CỐ (6.2.3b)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02920" y="1965960"/>
            <a:ext cx="1965960" cy="566928"/>
          </a:xfrm>
          <a:prstGeom prst="roundRect">
            <a:avLst>
              <a:gd name="adj" fmla="val 14516"/>
            </a:avLst>
          </a:prstGeom>
          <a:solidFill>
            <a:srgbClr val="FFFFFF"/>
          </a:solidFill>
          <a:ln w="12700">
            <a:solidFill>
              <a:srgbClr val="C9D2D8"/>
            </a:solidFill>
            <a:prstDash val="solid"/>
          </a:ln>
          <a:effectLst>
            <a:outerShdw sx="100000" sy="100000" kx="0" ky="0" algn="bl" rotWithShape="0" blurRad="63500" dist="25400" dir="5400000">
              <a:srgbClr val="1E2528">
                <a:alpha val="14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02920" y="1965960"/>
            <a:ext cx="1965960" cy="5669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5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Đơn vị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E25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báo sự cố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788920" y="1965960"/>
            <a:ext cx="1965960" cy="566928"/>
          </a:xfrm>
          <a:prstGeom prst="roundRect">
            <a:avLst>
              <a:gd name="adj" fmla="val 14516"/>
            </a:avLst>
          </a:prstGeom>
          <a:solidFill>
            <a:srgbClr val="FFFFFF"/>
          </a:solidFill>
          <a:ln w="12700">
            <a:solidFill>
              <a:srgbClr val="C9D2D8"/>
            </a:solidFill>
            <a:prstDash val="solid"/>
          </a:ln>
          <a:effectLst>
            <a:outerShdw sx="100000" sy="100000" kx="0" ky="0" algn="bl" rotWithShape="0" blurRad="63500" dist="25400" dir="5400000">
              <a:srgbClr val="1E2528">
                <a:alpha val="14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788920" y="1965960"/>
            <a:ext cx="1965960" cy="5669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5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 Cục xem xét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E25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nguyên nhân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074920" y="1965960"/>
            <a:ext cx="2148840" cy="566928"/>
          </a:xfrm>
          <a:prstGeom prst="roundRect">
            <a:avLst>
              <a:gd name="adj" fmla="val 14516"/>
            </a:avLst>
          </a:prstGeom>
          <a:solidFill>
            <a:srgbClr val="1F3A40"/>
          </a:solidFill>
          <a:ln w="12700">
            <a:solidFill>
              <a:srgbClr val="1F3A40"/>
            </a:solidFill>
            <a:prstDash val="solid"/>
          </a:ln>
          <a:effectLst>
            <a:outerShdw sx="100000" sy="100000" kx="0" ky="0" algn="bl" rotWithShape="0" blurRad="63500" dist="25400" dir="5400000">
              <a:srgbClr val="1E2528">
                <a:alpha val="14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074920" y="1965960"/>
            <a:ext cx="2148840" cy="5669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Sự cố NHỎ?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điểm quyết định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543800" y="1325880"/>
            <a:ext cx="2286000" cy="566928"/>
          </a:xfrm>
          <a:prstGeom prst="roundRect">
            <a:avLst>
              <a:gd name="adj" fmla="val 14516"/>
            </a:avLst>
          </a:prstGeom>
          <a:solidFill>
            <a:srgbClr val="FFFFFF"/>
          </a:solidFill>
          <a:ln w="12700">
            <a:solidFill>
              <a:srgbClr val="C9D2D8"/>
            </a:solidFill>
            <a:prstDash val="solid"/>
          </a:ln>
          <a:effectLst>
            <a:outerShdw sx="100000" sy="100000" kx="0" ky="0" algn="bl" rotWithShape="0" blurRad="63500" dist="25400" dir="5400000">
              <a:srgbClr val="1E2528">
                <a:alpha val="14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7543800" y="1325880"/>
            <a:ext cx="2286000" cy="5669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25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Tự khắc phục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1E25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cập nhật hồ sơ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7543800" y="2697480"/>
            <a:ext cx="2286000" cy="566928"/>
          </a:xfrm>
          <a:prstGeom prst="roundRect">
            <a:avLst>
              <a:gd name="adj" fmla="val 14516"/>
            </a:avLst>
          </a:prstGeom>
          <a:solidFill>
            <a:srgbClr val="FFFFFF"/>
          </a:solidFill>
          <a:ln w="12700">
            <a:solidFill>
              <a:srgbClr val="C9D2D8"/>
            </a:solidFill>
            <a:prstDash val="solid"/>
          </a:ln>
          <a:effectLst>
            <a:outerShdw sx="100000" sy="100000" kx="0" ky="0" algn="bl" rotWithShape="0" blurRad="63500" dist="25400" dir="5400000">
              <a:srgbClr val="1E2528">
                <a:alpha val="14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543800" y="2697480"/>
            <a:ext cx="2286000" cy="5669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25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Lập phương án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1E25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Lãnh đạo Cục duyệt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10149840" y="2697480"/>
            <a:ext cx="1554480" cy="566928"/>
          </a:xfrm>
          <a:prstGeom prst="roundRect">
            <a:avLst>
              <a:gd name="adj" fmla="val 14516"/>
            </a:avLst>
          </a:prstGeom>
          <a:solidFill>
            <a:srgbClr val="1F3A40"/>
          </a:solidFill>
          <a:ln w="12700">
            <a:solidFill>
              <a:srgbClr val="1F3A40"/>
            </a:solidFill>
            <a:prstDash val="solid"/>
          </a:ln>
          <a:effectLst>
            <a:outerShdw sx="100000" sy="100000" kx="0" ky="0" algn="bl" rotWithShape="0" blurRad="63500" dist="25400" dir="5400000">
              <a:srgbClr val="1E2528">
                <a:alpha val="14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10149840" y="2697480"/>
            <a:ext cx="1554480" cy="5669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Thực hiện →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nghiệm thu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468880" y="2249424"/>
            <a:ext cx="320040" cy="0"/>
          </a:xfrm>
          <a:prstGeom prst="line">
            <a:avLst/>
          </a:prstGeom>
          <a:noFill/>
          <a:ln w="19050">
            <a:solidFill>
              <a:srgbClr val="64707A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4754880" y="2249424"/>
            <a:ext cx="320040" cy="0"/>
          </a:xfrm>
          <a:prstGeom prst="line">
            <a:avLst/>
          </a:prstGeom>
          <a:noFill/>
          <a:ln w="19050">
            <a:solidFill>
              <a:srgbClr val="64707A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7223760" y="2148840"/>
            <a:ext cx="320040" cy="-521208"/>
          </a:xfrm>
          <a:prstGeom prst="line">
            <a:avLst/>
          </a:prstGeom>
          <a:noFill/>
          <a:ln w="19050">
            <a:solidFill>
              <a:srgbClr val="64707A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7223760" y="2377440"/>
            <a:ext cx="320040" cy="548640"/>
          </a:xfrm>
          <a:prstGeom prst="line">
            <a:avLst/>
          </a:prstGeom>
          <a:noFill/>
          <a:ln w="19050">
            <a:solidFill>
              <a:srgbClr val="64707A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9829800" y="2980944"/>
            <a:ext cx="320040" cy="0"/>
          </a:xfrm>
          <a:prstGeom prst="line">
            <a:avLst/>
          </a:prstGeom>
          <a:noFill/>
          <a:ln w="19050">
            <a:solidFill>
              <a:srgbClr val="64707A"/>
            </a:solidFill>
            <a:prstDash val="solid"/>
            <a:tailEnd type="triangle"/>
          </a:ln>
        </p:spPr>
      </p:sp>
      <p:sp>
        <p:nvSpPr>
          <p:cNvPr id="22" name="Text 20"/>
          <p:cNvSpPr/>
          <p:nvPr/>
        </p:nvSpPr>
        <p:spPr>
          <a:xfrm>
            <a:off x="7589520" y="1938528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AE8D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không cần phê duyệt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502920" y="3977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6F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LUỒNG B — KẾ HOẠCH HÀNG NĂM (6.2.3a)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502920" y="4370832"/>
            <a:ext cx="2377440" cy="566928"/>
          </a:xfrm>
          <a:prstGeom prst="roundRect">
            <a:avLst>
              <a:gd name="adj" fmla="val 14516"/>
            </a:avLst>
          </a:prstGeom>
          <a:solidFill>
            <a:srgbClr val="FFFFFF"/>
          </a:solidFill>
          <a:ln w="12700">
            <a:solidFill>
              <a:srgbClr val="C9D2D8"/>
            </a:solidFill>
            <a:prstDash val="solid"/>
          </a:ln>
          <a:effectLst>
            <a:outerShdw sx="100000" sy="100000" kx="0" ky="0" algn="bl" rotWithShape="0" blurRad="63500" dist="25400" dir="5400000">
              <a:srgbClr val="1E2528">
                <a:alpha val="14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502920" y="4370832"/>
            <a:ext cx="2377440" cy="5669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5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 Cục lập kế hoạch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E25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bảo dưỡng năm (BM/03)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3200400" y="4370832"/>
            <a:ext cx="2103120" cy="566928"/>
          </a:xfrm>
          <a:prstGeom prst="roundRect">
            <a:avLst>
              <a:gd name="adj" fmla="val 14516"/>
            </a:avLst>
          </a:prstGeom>
          <a:solidFill>
            <a:srgbClr val="FFFFFF"/>
          </a:solidFill>
          <a:ln w="12700">
            <a:solidFill>
              <a:srgbClr val="C9D2D8"/>
            </a:solidFill>
            <a:prstDash val="solid"/>
          </a:ln>
          <a:effectLst>
            <a:outerShdw sx="100000" sy="100000" kx="0" ky="0" algn="bl" rotWithShape="0" blurRad="63500" dist="25400" dir="5400000">
              <a:srgbClr val="1E2528">
                <a:alpha val="14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3200400" y="4370832"/>
            <a:ext cx="2103120" cy="5669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5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Lãnh đạo Cục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E25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phê duyệt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5623560" y="4370832"/>
            <a:ext cx="2103120" cy="566928"/>
          </a:xfrm>
          <a:prstGeom prst="roundRect">
            <a:avLst>
              <a:gd name="adj" fmla="val 14516"/>
            </a:avLst>
          </a:prstGeom>
          <a:solidFill>
            <a:srgbClr val="FFFFFF"/>
          </a:solidFill>
          <a:ln w="12700">
            <a:solidFill>
              <a:srgbClr val="C9D2D8"/>
            </a:solidFill>
            <a:prstDash val="solid"/>
          </a:ln>
          <a:effectLst>
            <a:outerShdw sx="100000" sy="100000" kx="0" ky="0" algn="bl" rotWithShape="0" blurRad="63500" dist="25400" dir="5400000">
              <a:srgbClr val="1E2528">
                <a:alpha val="14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5623560" y="4370832"/>
            <a:ext cx="2103120" cy="5669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5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Phát hành,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E25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đơn vị thực hiện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8046720" y="4370832"/>
            <a:ext cx="1965960" cy="566928"/>
          </a:xfrm>
          <a:prstGeom prst="roundRect">
            <a:avLst>
              <a:gd name="adj" fmla="val 14516"/>
            </a:avLst>
          </a:prstGeom>
          <a:solidFill>
            <a:srgbClr val="FFFFFF"/>
          </a:solidFill>
          <a:ln w="12700">
            <a:solidFill>
              <a:srgbClr val="C9D2D8"/>
            </a:solidFill>
            <a:prstDash val="solid"/>
          </a:ln>
          <a:effectLst>
            <a:outerShdw sx="100000" sy="100000" kx="0" ky="0" algn="bl" rotWithShape="0" blurRad="63500" dist="25400" dir="5400000">
              <a:srgbClr val="1E2528">
                <a:alpha val="14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8046720" y="4370832"/>
            <a:ext cx="1965960" cy="5669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5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Kiểm tra,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E25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nghiệm thu (BM/04)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10332720" y="4370832"/>
            <a:ext cx="1371600" cy="566928"/>
          </a:xfrm>
          <a:prstGeom prst="roundRect">
            <a:avLst>
              <a:gd name="adj" fmla="val 14516"/>
            </a:avLst>
          </a:prstGeom>
          <a:solidFill>
            <a:srgbClr val="1F3A40"/>
          </a:solidFill>
          <a:ln w="12700">
            <a:solidFill>
              <a:srgbClr val="1F3A40"/>
            </a:solidFill>
            <a:prstDash val="solid"/>
          </a:ln>
          <a:effectLst>
            <a:outerShdw sx="100000" sy="100000" kx="0" ky="0" algn="bl" rotWithShape="0" blurRad="63500" dist="25400" dir="5400000">
              <a:srgbClr val="1E2528">
                <a:alpha val="14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10332720" y="4370832"/>
            <a:ext cx="1371600" cy="5669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Cập nhật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hồ sơ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2880360" y="4654296"/>
            <a:ext cx="320040" cy="0"/>
          </a:xfrm>
          <a:prstGeom prst="line">
            <a:avLst/>
          </a:prstGeom>
          <a:noFill/>
          <a:ln w="19050">
            <a:solidFill>
              <a:srgbClr val="64707A"/>
            </a:solidFill>
            <a:prstDash val="solid"/>
            <a:tailEnd type="triangle"/>
          </a:ln>
        </p:spPr>
      </p:sp>
      <p:sp>
        <p:nvSpPr>
          <p:cNvPr id="35" name="Shape 33"/>
          <p:cNvSpPr/>
          <p:nvPr/>
        </p:nvSpPr>
        <p:spPr>
          <a:xfrm>
            <a:off x="5303520" y="4654296"/>
            <a:ext cx="320040" cy="0"/>
          </a:xfrm>
          <a:prstGeom prst="line">
            <a:avLst/>
          </a:prstGeom>
          <a:noFill/>
          <a:ln w="19050">
            <a:solidFill>
              <a:srgbClr val="64707A"/>
            </a:solidFill>
            <a:prstDash val="solid"/>
            <a:tailEnd type="triangle"/>
          </a:ln>
        </p:spPr>
      </p:sp>
      <p:sp>
        <p:nvSpPr>
          <p:cNvPr id="36" name="Shape 34"/>
          <p:cNvSpPr/>
          <p:nvPr/>
        </p:nvSpPr>
        <p:spPr>
          <a:xfrm>
            <a:off x="7726680" y="4654296"/>
            <a:ext cx="320040" cy="0"/>
          </a:xfrm>
          <a:prstGeom prst="line">
            <a:avLst/>
          </a:prstGeom>
          <a:noFill/>
          <a:ln w="19050">
            <a:solidFill>
              <a:srgbClr val="64707A"/>
            </a:solidFill>
            <a:prstDash val="solid"/>
            <a:tailEnd type="triangle"/>
          </a:ln>
        </p:spPr>
      </p:sp>
      <p:sp>
        <p:nvSpPr>
          <p:cNvPr id="37" name="Shape 35"/>
          <p:cNvSpPr/>
          <p:nvPr/>
        </p:nvSpPr>
        <p:spPr>
          <a:xfrm>
            <a:off x="10012680" y="4654296"/>
            <a:ext cx="320040" cy="0"/>
          </a:xfrm>
          <a:prstGeom prst="line">
            <a:avLst/>
          </a:prstGeom>
          <a:noFill/>
          <a:ln w="19050">
            <a:solidFill>
              <a:srgbClr val="64707A"/>
            </a:solidFill>
            <a:prstDash val="solid"/>
            <a:tailEnd type="triangle"/>
          </a:ln>
        </p:spPr>
      </p:sp>
      <p:sp>
        <p:nvSpPr>
          <p:cNvPr id="38" name="Text 36"/>
          <p:cNvSpPr/>
          <p:nvPr/>
        </p:nvSpPr>
        <p:spPr>
          <a:xfrm>
            <a:off x="502920" y="6473952"/>
            <a:ext cx="11155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Nguồn: QT.QLD.09.01 — Cục Quản lý Dược, ban hành 07/8/2018 (lần ban hành 01)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9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AE8D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ĐỊNH HƯỚNG GIẢI PHÁP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55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5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Năm mục tiêu của hệ thống — bám đúng quy trình gốc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1810512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AE8D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600200" y="1819656"/>
            <a:ext cx="99669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E25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Số hóa 4 biểu mẫu</a:t>
            </a:r>
            <a:endParaRPr lang="en-US" sz="1700" dirty="0"/>
          </a:p>
          <a:p>
            <a:pPr indent="0" marL="0">
              <a:buNone/>
            </a:pPr>
            <a:r>
              <a:rPr lang="en-US" sz="1350" dirty="0">
                <a:solidFill>
                  <a:srgbClr val="64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Danh mục, hồ sơ, kế hoạch, nghiệm thu thành dữ liệu có cấu trúc — hết thất lạc, trùng lặp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1600200" y="2596896"/>
            <a:ext cx="9784080" cy="0"/>
          </a:xfrm>
          <a:prstGeom prst="line">
            <a:avLst/>
          </a:prstGeom>
          <a:noFill/>
          <a:ln w="9525">
            <a:solidFill>
              <a:srgbClr val="E2E6E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2715768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AE8D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1600200" y="2724912"/>
            <a:ext cx="99669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E25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Tự động hóa phê duyệt</a:t>
            </a:r>
            <a:endParaRPr lang="en-US" sz="1700" dirty="0"/>
          </a:p>
          <a:p>
            <a:pPr indent="0" marL="0">
              <a:buNone/>
            </a:pPr>
            <a:r>
              <a:rPr lang="en-US" sz="1350" dirty="0">
                <a:solidFill>
                  <a:srgbClr val="64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Đơn vị → Văn phòng Cục → Lãnh đạo Cục, theo dõi trạng thái thời gian thực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1600200" y="3502152"/>
            <a:ext cx="9784080" cy="0"/>
          </a:xfrm>
          <a:prstGeom prst="line">
            <a:avLst/>
          </a:prstGeom>
          <a:noFill/>
          <a:ln w="9525">
            <a:solidFill>
              <a:srgbClr val="E2E6E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3621024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AE8D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1600200" y="3630168"/>
            <a:ext cx="99669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E25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Nhắc lịch bảo dưỡng</a:t>
            </a:r>
            <a:endParaRPr lang="en-US" sz="1700" dirty="0"/>
          </a:p>
          <a:p>
            <a:pPr indent="0" marL="0">
              <a:buNone/>
            </a:pPr>
            <a:r>
              <a:rPr lang="en-US" sz="1350" dirty="0">
                <a:solidFill>
                  <a:srgbClr val="64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07:00 hằng ngày: hạng mục đến hạn chưa xong → thông báo đúng người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1600200" y="4407408"/>
            <a:ext cx="9784080" cy="0"/>
          </a:xfrm>
          <a:prstGeom prst="line">
            <a:avLst/>
          </a:prstGeom>
          <a:noFill/>
          <a:ln w="9525">
            <a:solidFill>
              <a:srgbClr val="E2E6E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452628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AE8D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1600200" y="4535424"/>
            <a:ext cx="99669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E25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Truy vết toàn bộ</a:t>
            </a:r>
            <a:endParaRPr lang="en-US" sz="1700" dirty="0"/>
          </a:p>
          <a:p>
            <a:pPr indent="0" marL="0">
              <a:buNone/>
            </a:pPr>
            <a:r>
              <a:rPr lang="en-US" sz="1350" dirty="0">
                <a:solidFill>
                  <a:srgbClr val="64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Timeline thiết bị + audit trail append-only theo ISO 9001:2015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1600200" y="5312664"/>
            <a:ext cx="9784080" cy="0"/>
          </a:xfrm>
          <a:prstGeom prst="line">
            <a:avLst/>
          </a:prstGeom>
          <a:noFill/>
          <a:ln w="9525">
            <a:solidFill>
              <a:srgbClr val="E2E6E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5431536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AE8D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1600200" y="5440680"/>
            <a:ext cx="99669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E25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Báo cáo quản trị</a:t>
            </a:r>
            <a:endParaRPr lang="en-US" sz="1700" dirty="0"/>
          </a:p>
          <a:p>
            <a:pPr indent="0" marL="0">
              <a:buNone/>
            </a:pPr>
            <a:r>
              <a:rPr lang="en-US" sz="1350" dirty="0">
                <a:solidFill>
                  <a:srgbClr val="64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Thiết bị theo đơn vị, tần suất sự cố, tiến độ kế hoạch, chi phí — cho QMS và Lãnh đạo</a:t>
            </a:r>
            <a:endParaRPr lang="en-US" sz="1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9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AE8D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MÔ HÌNH HÓA CHỨC NĂNG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55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5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Sơ đồ use case — 6 tác nhân, 15 use case</a:t>
            </a:r>
            <a:endParaRPr lang="en-US" sz="3000" dirty="0"/>
          </a:p>
        </p:txBody>
      </p:sp>
      <p:pic>
        <p:nvPicPr>
          <p:cNvPr id="4" name="Image 0" descr="D:\Collection as HUST Student\2026-2027\2026.1\Phân tích hệ thống thiết kế phần mềm\bài tập lớn\docs\report\figures\use-cas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79242" y="1481328"/>
            <a:ext cx="5911195" cy="4846320"/>
          </a:xfrm>
          <a:prstGeom prst="rect">
            <a:avLst/>
          </a:prstGeom>
          <a:effectLst>
            <a:outerShdw sx="100000" sy="100000" kx="0" ky="0" algn="bl" rotWithShape="0" blurRad="127000" dist="38100" dir="5400000">
              <a:srgbClr val="1E2528">
                <a:alpha val="22000"/>
              </a:srgbClr>
            </a:outerShdw>
          </a:effectLst>
        </p:spPr>
      </p:pic>
      <p:sp>
        <p:nvSpPr>
          <p:cNvPr id="5" name="Text 2"/>
          <p:cNvSpPr/>
          <p:nvPr/>
        </p:nvSpPr>
        <p:spPr>
          <a:xfrm>
            <a:off x="8732520" y="1783080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AE8D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100" dirty="0"/>
          </a:p>
        </p:txBody>
      </p:sp>
      <p:sp>
        <p:nvSpPr>
          <p:cNvPr id="6" name="Text 3"/>
          <p:cNvSpPr/>
          <p:nvPr/>
        </p:nvSpPr>
        <p:spPr>
          <a:xfrm>
            <a:off x="8732520" y="2185416"/>
            <a:ext cx="2971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tác nhân: Đơn vị, VP Cục, Lãnh đạo, QMS, Nhà thầu, Bộ nhắc lịch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8732520" y="2898648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AE8D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2100" dirty="0"/>
          </a:p>
        </p:txBody>
      </p:sp>
      <p:sp>
        <p:nvSpPr>
          <p:cNvPr id="8" name="Text 5"/>
          <p:cNvSpPr/>
          <p:nvPr/>
        </p:nvSpPr>
        <p:spPr>
          <a:xfrm>
            <a:off x="8732520" y="3300984"/>
            <a:ext cx="2971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 truy vết được về mục 6.2.x của quy trình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8732520" y="4014216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AE8D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2×«include»</a:t>
            </a:r>
            <a:endParaRPr lang="en-US" sz="2100" dirty="0"/>
          </a:p>
        </p:txBody>
      </p:sp>
      <p:sp>
        <p:nvSpPr>
          <p:cNvPr id="10" name="Text 7"/>
          <p:cNvSpPr/>
          <p:nvPr/>
        </p:nvSpPr>
        <p:spPr>
          <a:xfrm>
            <a:off x="8732520" y="4416552"/>
            <a:ext cx="2971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Lập phương án / Lập kế hoạch → Trình phê duyệt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8732520" y="5129784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AE8D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3×«extend»</a:t>
            </a:r>
            <a:endParaRPr lang="en-US" sz="2100" dirty="0"/>
          </a:p>
        </p:txBody>
      </p:sp>
      <p:sp>
        <p:nvSpPr>
          <p:cNvPr id="12" name="Text 9"/>
          <p:cNvSpPr/>
          <p:nvPr/>
        </p:nvSpPr>
        <p:spPr>
          <a:xfrm>
            <a:off x="8732520" y="5532120"/>
            <a:ext cx="2971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Tự khắc phục {sự cố nhỏ}; Nghiệm thu {thuê ngoài}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502920" y="6473952"/>
            <a:ext cx="11155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Bộ sơ đồ đầy đủ: docs/diagrams/*.drawio (draw.io, 10 trang)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9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AE8D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MÔ HÌNH HÓA CHỨC NĂNG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55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5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Sơ đồ hoạt động — đúng rẽ nhánh của mục 6.2.3b</a:t>
            </a:r>
            <a:endParaRPr lang="en-US" sz="3000" dirty="0"/>
          </a:p>
        </p:txBody>
      </p:sp>
      <p:pic>
        <p:nvPicPr>
          <p:cNvPr id="4" name="Image 0" descr="D:\Collection as HUST Student\2026-2027\2026.1\Phân tích hệ thống thiết kế phần mềm\bài tập lớn\docs\report\figures\activity-incid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87958" y="1554480"/>
            <a:ext cx="4093763" cy="4800600"/>
          </a:xfrm>
          <a:prstGeom prst="rect">
            <a:avLst/>
          </a:prstGeom>
          <a:effectLst>
            <a:outerShdw sx="100000" sy="100000" kx="0" ky="0" algn="bl" rotWithShape="0" blurRad="127000" dist="38100" dir="5400000">
              <a:srgbClr val="1E2528">
                <a:alpha val="22000"/>
              </a:srgbClr>
            </a:outerShdw>
          </a:effectLst>
        </p:spPr>
      </p:pic>
      <p:sp>
        <p:nvSpPr>
          <p:cNvPr id="5" name="Shape 2"/>
          <p:cNvSpPr/>
          <p:nvPr/>
        </p:nvSpPr>
        <p:spPr>
          <a:xfrm>
            <a:off x="8686800" y="2011680"/>
            <a:ext cx="3017520" cy="1554480"/>
          </a:xfrm>
          <a:prstGeom prst="roundRect">
            <a:avLst>
              <a:gd name="adj" fmla="val 5294"/>
            </a:avLst>
          </a:prstGeom>
          <a:solidFill>
            <a:srgbClr val="FFF6E3"/>
          </a:solidFill>
          <a:ln w="12700">
            <a:solidFill>
              <a:srgbClr val="AE8D3C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869680" y="2176272"/>
            <a:ext cx="2697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5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Điểm mấu chốt
</a:t>
            </a:r>
            <a:pPr indent="0" marL="0">
              <a:buNone/>
            </a:pPr>
            <a:r>
              <a:rPr lang="en-US" sz="1250" dirty="0">
                <a:solidFill>
                  <a:srgbClr val="64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Sự cố NHỎ: đơn vị tự khắc phục — không qua phê duyệt, giữ đúng tinh thần quy trình.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8686800" y="3840480"/>
            <a:ext cx="3017520" cy="1554480"/>
          </a:xfrm>
          <a:prstGeom prst="roundRect">
            <a:avLst>
              <a:gd name="adj" fmla="val 5294"/>
            </a:avLst>
          </a:prstGeom>
          <a:solidFill>
            <a:srgbClr val="FFFFFF"/>
          </a:solidFill>
          <a:ln w="12700">
            <a:solidFill>
              <a:srgbClr val="C9D2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869680" y="4005072"/>
            <a:ext cx="2697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5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phân làn
</a:t>
            </a:r>
            <a:pPr indent="0" marL="0">
              <a:buNone/>
            </a:pPr>
            <a:r>
              <a:rPr lang="en-US" sz="1250" dirty="0">
                <a:solidFill>
                  <a:srgbClr val="64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Đơn vị · Văn phòng Cục · Lãnh đạo Cục · Nhà thầu ngoài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502920" y="6473952"/>
            <a:ext cx="11155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Kèm 1 sơ đồ hoạt động thứ hai cho luồng kế hoạch bảo dưỡng năm (02-activity.drawio, trang 2)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9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AE8D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MÔ HÌNH HÓA CẤU TRÚC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55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5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Sơ đồ lớp — 15 lớp, truy vết về biểu mẫu</a:t>
            </a:r>
            <a:endParaRPr lang="en-US" sz="3000" dirty="0"/>
          </a:p>
        </p:txBody>
      </p:sp>
      <p:pic>
        <p:nvPicPr>
          <p:cNvPr id="4" name="Image 0" descr="D:\Collection as HUST Student\2026-2027\2026.1\Phân tích hệ thống thiết kế phần mềm\bài tập lớn\docs\report\figures\clas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9483" y="1554480"/>
            <a:ext cx="8047914" cy="4800600"/>
          </a:xfrm>
          <a:prstGeom prst="rect">
            <a:avLst/>
          </a:prstGeom>
          <a:effectLst>
            <a:outerShdw sx="100000" sy="100000" kx="0" ky="0" algn="bl" rotWithShape="0" blurRad="127000" dist="38100" dir="5400000">
              <a:srgbClr val="1E2528">
                <a:alpha val="22000"/>
              </a:srgbClr>
            </a:outerShdw>
          </a:effectLst>
        </p:spPr>
      </p:pic>
      <p:sp>
        <p:nvSpPr>
          <p:cNvPr id="5" name="Text 2"/>
          <p:cNvSpPr/>
          <p:nvPr/>
        </p:nvSpPr>
        <p:spPr>
          <a:xfrm>
            <a:off x="9144000" y="192024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AE8D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KẾ THỪA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9144000" y="2212848"/>
            <a:ext cx="2606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Lớp trừu tượng TaiLieu ← Kế hoạch · Phương án · Biên bản (đều qua trình duyệt)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9144000" y="333756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AE8D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HỢP THÀNH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9144000" y="3630168"/>
            <a:ext cx="2606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Kế hoạch ◆ 1..* Chi tiết · Biên bản ◆ 2..4 Đại diện (đúng BM/04)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9144000" y="475488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AE8D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TRUY VẾT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9144000" y="5047488"/>
            <a:ext cx="2606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Trường gắn {BM/0x} = nguyên văn biểu mẫu; [mở rộng] = bổ sung đề xuất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502920" y="6473952"/>
            <a:ext cx="11155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Kèm thẻ CRC cho 3 lớp then chốt: TrangThietBi · SuCo · BienBanNghiemThu (Chương 4 báo cáo)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9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AE8D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MÔ HÌNH HÓA HÀNH VI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55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5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Trình tự và trạng thái — hai luồng cốt lõi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14813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Sequence — xử lý sự cố thuê ngoài</a:t>
            </a:r>
            <a:endParaRPr lang="en-US" sz="1400" dirty="0"/>
          </a:p>
        </p:txBody>
      </p:sp>
      <p:pic>
        <p:nvPicPr>
          <p:cNvPr id="5" name="Image 0" descr="D:\Collection as HUST Student\2026-2027\2026.1\Phân tích hệ thống thiết kế phần mềm\bài tập lớn\docs\report\figures\sequence-incid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3153" y="1810512"/>
            <a:ext cx="4317375" cy="3017520"/>
          </a:xfrm>
          <a:prstGeom prst="rect">
            <a:avLst/>
          </a:prstGeom>
          <a:effectLst>
            <a:outerShdw sx="100000" sy="100000" kx="0" ky="0" algn="bl" rotWithShape="0" blurRad="127000" dist="38100" dir="5400000">
              <a:srgbClr val="1E2528">
                <a:alpha val="22000"/>
              </a:srgbClr>
            </a:outerShdw>
          </a:effectLst>
        </p:spPr>
      </p:pic>
      <p:sp>
        <p:nvSpPr>
          <p:cNvPr id="6" name="Text 3"/>
          <p:cNvSpPr/>
          <p:nvPr/>
        </p:nvSpPr>
        <p:spPr>
          <a:xfrm>
            <a:off x="6355080" y="14813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machine — vòng đời SuCo</a:t>
            </a:r>
            <a:endParaRPr lang="en-US" sz="1400" dirty="0"/>
          </a:p>
        </p:txBody>
      </p:sp>
      <p:pic>
        <p:nvPicPr>
          <p:cNvPr id="7" name="Image 1" descr="D:\Collection as HUST Student\2026-2027\2026.1\Phân tích hệ thống thiết kế phần mềm\bài tập lớn\docs\report\figures\state-inciden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26326" y="1810512"/>
            <a:ext cx="1806748" cy="3017520"/>
          </a:xfrm>
          <a:prstGeom prst="rect">
            <a:avLst/>
          </a:prstGeom>
          <a:effectLst>
            <a:outerShdw sx="100000" sy="100000" kx="0" ky="0" algn="bl" rotWithShape="0" blurRad="127000" dist="38100" dir="5400000">
              <a:srgbClr val="1E2528">
                <a:alpha val="22000"/>
              </a:srgbClr>
            </a:outerShdw>
          </a:effectLst>
        </p:spPr>
      </p:pic>
      <p:sp>
        <p:nvSpPr>
          <p:cNvPr id="8" name="Shape 4"/>
          <p:cNvSpPr/>
          <p:nvPr/>
        </p:nvSpPr>
        <p:spPr>
          <a:xfrm>
            <a:off x="502920" y="5074920"/>
            <a:ext cx="11155680" cy="1051560"/>
          </a:xfrm>
          <a:prstGeom prst="roundRect">
            <a:avLst>
              <a:gd name="adj" fmla="val 7826"/>
            </a:avLst>
          </a:prstGeom>
          <a:solidFill>
            <a:srgbClr val="FFF6E3"/>
          </a:solidFill>
          <a:ln w="12700">
            <a:solidFill>
              <a:srgbClr val="AE8D3C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777240" y="52578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5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Nhất quán ba mô hình:  </a:t>
            </a:r>
            <a:pPr indent="0" marL="0">
              <a:buNone/>
            </a:pPr>
            <a:r>
              <a:rPr lang="en-US" sz="1300" dirty="0">
                <a:solidFill>
                  <a:srgbClr val="64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machine cài thẳng vào API (UPDATE ... WHERE status = ...) — không duyệt khi chưa trình, không ký hai lần, sự cố nhỏ đi đường tắt đúng quy trình.</a:t>
            </a:r>
            <a:endParaRPr lang="en-US" sz="1400" dirty="0"/>
          </a:p>
        </p:txBody>
      </p:sp>
      <p:sp>
        <p:nvSpPr>
          <p:cNvPr id="10" name="Text 6"/>
          <p:cNvSpPr/>
          <p:nvPr/>
        </p:nvSpPr>
        <p:spPr>
          <a:xfrm>
            <a:off x="502920" y="6473952"/>
            <a:ext cx="11155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Đầy đủ: 2 sequence (sự cố, kế hoạch) + 2 state machine (TrangThietBi, SuCo)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9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AE8D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THIẾT KẾ HỆ THỐNG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55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5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Kiến trúc ba lớp — đóng gói Docker Compose</a:t>
            </a:r>
            <a:endParaRPr lang="en-US" sz="3000" dirty="0"/>
          </a:p>
        </p:txBody>
      </p:sp>
      <p:pic>
        <p:nvPicPr>
          <p:cNvPr id="4" name="Image 0" descr="D:\Collection as HUST Student\2026-2027\2026.1\Phân tích hệ thống thiết kế phần mềm\bài tập lớn\docs\report\figures\deploym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775370"/>
            <a:ext cx="7589520" cy="4358821"/>
          </a:xfrm>
          <a:prstGeom prst="rect">
            <a:avLst/>
          </a:prstGeom>
          <a:effectLst>
            <a:outerShdw sx="100000" sy="100000" kx="0" ky="0" algn="bl" rotWithShape="0" blurRad="127000" dist="38100" dir="5400000">
              <a:srgbClr val="1E2528">
                <a:alpha val="22000"/>
              </a:srgbClr>
            </a:outerShdw>
          </a:effectLst>
        </p:spPr>
      </p:pic>
      <p:sp>
        <p:nvSpPr>
          <p:cNvPr id="5" name="Text 2"/>
          <p:cNvSpPr/>
          <p:nvPr/>
        </p:nvSpPr>
        <p:spPr>
          <a:xfrm>
            <a:off x="8321040" y="182880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AE8D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3200" dirty="0"/>
          </a:p>
        </p:txBody>
      </p:sp>
      <p:sp>
        <p:nvSpPr>
          <p:cNvPr id="6" name="Text 3"/>
          <p:cNvSpPr/>
          <p:nvPr/>
        </p:nvSpPr>
        <p:spPr>
          <a:xfrm>
            <a:off x="8321040" y="2331720"/>
            <a:ext cx="3383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container: 2 nginx + api Node.js/Express + PostgreSQL 16 + volume uploads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8321040" y="329184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AE8D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3200" dirty="0"/>
          </a:p>
        </p:txBody>
      </p:sp>
      <p:sp>
        <p:nvSpPr>
          <p:cNvPr id="8" name="Text 5"/>
          <p:cNvSpPr/>
          <p:nvPr/>
        </p:nvSpPr>
        <p:spPr>
          <a:xfrm>
            <a:off x="8321040" y="3794760"/>
            <a:ext cx="3383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bảng PostgreSQL bám đúng 4 biểu mẫu gốc + audit_logs append-only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8321040" y="475488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AE8D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~30</a:t>
            </a:r>
            <a:endParaRPr lang="en-US" sz="3200" dirty="0"/>
          </a:p>
        </p:txBody>
      </p:sp>
      <p:sp>
        <p:nvSpPr>
          <p:cNvPr id="10" name="Text 7"/>
          <p:cNvSpPr/>
          <p:nvPr/>
        </p:nvSpPr>
        <p:spPr>
          <a:xfrm>
            <a:off x="8321040" y="5257800"/>
            <a:ext cx="3383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endpoint /api/v1 · JWT 8h · bcrypt · phân quyền 5 vai trò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502920" y="6473952"/>
            <a:ext cx="11155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compose up -d --build → cổng đơn vị :8080 · cổng quản trị :8081 · API :3001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9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AE8D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CÀI ĐẶT THỬ NGHIỆM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55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5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Nguyên mẫu chạy thật — dữ liệu thật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148132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Cổng quản trị — Văn phòng Cục (theme sáng)</a:t>
            </a:r>
            <a:endParaRPr lang="en-US" sz="1300" dirty="0"/>
          </a:p>
        </p:txBody>
      </p:sp>
      <p:pic>
        <p:nvPicPr>
          <p:cNvPr id="5" name="Image 0" descr="D:\Collection as HUST Student\2026-2027\2026.1\Phân tích hệ thống thiết kế phần mềm\bài tập lớn\docs\report\figures\screen-admin-dashbo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5508" y="1783080"/>
            <a:ext cx="5266944" cy="3291840"/>
          </a:xfrm>
          <a:prstGeom prst="rect">
            <a:avLst/>
          </a:prstGeom>
          <a:effectLst>
            <a:outerShdw sx="100000" sy="100000" kx="0" ky="0" algn="bl" rotWithShape="0" blurRad="127000" dist="38100" dir="5400000">
              <a:srgbClr val="1E2528">
                <a:alpha val="22000"/>
              </a:srgbClr>
            </a:outerShdw>
          </a:effectLst>
        </p:spPr>
      </p:pic>
      <p:sp>
        <p:nvSpPr>
          <p:cNvPr id="6" name="Text 3"/>
          <p:cNvSpPr/>
          <p:nvPr/>
        </p:nvSpPr>
        <p:spPr>
          <a:xfrm>
            <a:off x="6355080" y="148132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Hồ sơ thiết bị BM/02 — timeline truy vết</a:t>
            </a:r>
            <a:endParaRPr lang="en-US" sz="1300" dirty="0"/>
          </a:p>
        </p:txBody>
      </p:sp>
      <p:pic>
        <p:nvPicPr>
          <p:cNvPr id="7" name="Image 1" descr="D:\Collection as HUST Student\2026-2027\2026.1\Phân tích hệ thống thiết kế phần mềm\bài tập lớn\docs\report\figures\screen-profil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96228" y="1783080"/>
            <a:ext cx="5266944" cy="3291840"/>
          </a:xfrm>
          <a:prstGeom prst="rect">
            <a:avLst/>
          </a:prstGeom>
          <a:effectLst>
            <a:outerShdw sx="100000" sy="100000" kx="0" ky="0" algn="bl" rotWithShape="0" blurRad="127000" dist="38100" dir="5400000">
              <a:srgbClr val="1E2528">
                <a:alpha val="22000"/>
              </a:srgbClr>
            </a:outerShdw>
          </a:effectLst>
        </p:spPr>
      </p:pic>
      <p:sp>
        <p:nvSpPr>
          <p:cNvPr id="8" name="Shape 4"/>
          <p:cNvSpPr/>
          <p:nvPr/>
        </p:nvSpPr>
        <p:spPr>
          <a:xfrm>
            <a:off x="502920" y="5257800"/>
            <a:ext cx="11155680" cy="9144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C9D2D8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777240" y="5422392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E25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Hai cổng giao diện tái hiện đúng các cột biểu mẫu giấy  </a:t>
            </a:r>
            <a:pPr indent="0" marL="0">
              <a:buNone/>
            </a:pPr>
            <a:r>
              <a:rPr lang="en-US" sz="1300" dirty="0">
                <a:solidFill>
                  <a:srgbClr val="64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người dùng chuyển từ giấy sang điện tử không phải học lại; responsive cho báo sự cố trên điện thoại.</a:t>
            </a:r>
            <a:endParaRPr lang="en-US" sz="13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9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AE8D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THỬ NGHIỆM END-TO-END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55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5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10/10 kịch bản kiểm thử đạt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1783080"/>
            <a:ext cx="3291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AE8D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10/10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548640" y="320040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kịch bản kiểm thử chính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64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đạt trên hệ thống Docker thật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069080" y="1920240"/>
            <a:ext cx="0" cy="4023360"/>
          </a:xfrm>
          <a:prstGeom prst="line">
            <a:avLst/>
          </a:prstGeom>
          <a:noFill/>
          <a:ln w="12700">
            <a:solidFill>
              <a:srgbClr val="E2E6E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434840" y="1901952"/>
            <a:ext cx="237744" cy="237744"/>
          </a:xfrm>
          <a:prstGeom prst="ellipse">
            <a:avLst/>
          </a:prstGeom>
          <a:solidFill>
            <a:srgbClr val="DFF0E4"/>
          </a:solidFill>
          <a:ln/>
        </p:spPr>
      </p:sp>
      <p:sp>
        <p:nvSpPr>
          <p:cNvPr id="8" name="Text 6"/>
          <p:cNvSpPr/>
          <p:nvPr/>
        </p:nvSpPr>
        <p:spPr>
          <a:xfrm>
            <a:off x="4434840" y="1879092"/>
            <a:ext cx="237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E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846320" y="182880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E25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Đăng nhập 4 vai trò — JWT đúng quyền, sai mật khẩu chặn 401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4434840" y="2587752"/>
            <a:ext cx="237744" cy="237744"/>
          </a:xfrm>
          <a:prstGeom prst="ellipse">
            <a:avLst/>
          </a:prstGeom>
          <a:solidFill>
            <a:srgbClr val="DFF0E4"/>
          </a:solidFill>
          <a:ln/>
        </p:spPr>
      </p:sp>
      <p:sp>
        <p:nvSpPr>
          <p:cNvPr id="11" name="Text 9"/>
          <p:cNvSpPr/>
          <p:nvPr/>
        </p:nvSpPr>
        <p:spPr>
          <a:xfrm>
            <a:off x="4434840" y="2564892"/>
            <a:ext cx="237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E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846320" y="251460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E25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Báo sự cố nhỏ → tự khắc phục → hồ sơ BM/02 tự ghi, KHÔNG phê duyệt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4434840" y="3273552"/>
            <a:ext cx="237744" cy="237744"/>
          </a:xfrm>
          <a:prstGeom prst="ellipse">
            <a:avLst/>
          </a:prstGeom>
          <a:solidFill>
            <a:srgbClr val="DFF0E4"/>
          </a:solidFill>
          <a:ln/>
        </p:spPr>
      </p:sp>
      <p:sp>
        <p:nvSpPr>
          <p:cNvPr id="14" name="Text 12"/>
          <p:cNvSpPr/>
          <p:nvPr/>
        </p:nvSpPr>
        <p:spPr>
          <a:xfrm>
            <a:off x="4434840" y="3250692"/>
            <a:ext cx="237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E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846320" y="320040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E25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Sự cố lớn → phương án thuê ngoài → Lãnh đạo Cục duyệt → thực hiện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4434840" y="3959352"/>
            <a:ext cx="237744" cy="237744"/>
          </a:xfrm>
          <a:prstGeom prst="ellipse">
            <a:avLst/>
          </a:prstGeom>
          <a:solidFill>
            <a:srgbClr val="DFF0E4"/>
          </a:solidFill>
          <a:ln/>
        </p:spPr>
      </p:sp>
      <p:sp>
        <p:nvSpPr>
          <p:cNvPr id="17" name="Text 15"/>
          <p:cNvSpPr/>
          <p:nvPr/>
        </p:nvSpPr>
        <p:spPr>
          <a:xfrm>
            <a:off x="4434840" y="3936492"/>
            <a:ext cx="237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E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846320" y="388620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E25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Nghiệm thu BM/04 đủ chữ ký → đóng sự cố, thiết bị về Hoạt động</a:t>
            </a:r>
            <a:endParaRPr lang="en-US" sz="1450" dirty="0"/>
          </a:p>
        </p:txBody>
      </p:sp>
      <p:sp>
        <p:nvSpPr>
          <p:cNvPr id="19" name="Shape 17"/>
          <p:cNvSpPr/>
          <p:nvPr/>
        </p:nvSpPr>
        <p:spPr>
          <a:xfrm>
            <a:off x="4434840" y="4645152"/>
            <a:ext cx="237744" cy="237744"/>
          </a:xfrm>
          <a:prstGeom prst="ellipse">
            <a:avLst/>
          </a:prstGeom>
          <a:solidFill>
            <a:srgbClr val="DFF0E4"/>
          </a:solidFill>
          <a:ln/>
        </p:spPr>
      </p:sp>
      <p:sp>
        <p:nvSpPr>
          <p:cNvPr id="20" name="Text 18"/>
          <p:cNvSpPr/>
          <p:nvPr/>
        </p:nvSpPr>
        <p:spPr>
          <a:xfrm>
            <a:off x="4434840" y="4622292"/>
            <a:ext cx="237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E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846320" y="457200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E25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Kế hoạch năm 2026: lập 4 hạng mục → trình → duyệt → hoàn thành</a:t>
            </a:r>
            <a:endParaRPr lang="en-US" sz="1450" dirty="0"/>
          </a:p>
        </p:txBody>
      </p:sp>
      <p:sp>
        <p:nvSpPr>
          <p:cNvPr id="22" name="Shape 20"/>
          <p:cNvSpPr/>
          <p:nvPr/>
        </p:nvSpPr>
        <p:spPr>
          <a:xfrm>
            <a:off x="4434840" y="5330952"/>
            <a:ext cx="237744" cy="237744"/>
          </a:xfrm>
          <a:prstGeom prst="ellipse">
            <a:avLst/>
          </a:prstGeom>
          <a:solidFill>
            <a:srgbClr val="DFF0E4"/>
          </a:solidFill>
          <a:ln/>
        </p:spPr>
      </p:sp>
      <p:sp>
        <p:nvSpPr>
          <p:cNvPr id="23" name="Text 21"/>
          <p:cNvSpPr/>
          <p:nvPr/>
        </p:nvSpPr>
        <p:spPr>
          <a:xfrm>
            <a:off x="4434840" y="5308092"/>
            <a:ext cx="237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E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846320" y="525780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E25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Nhắc lịch 07:00 hằng ngày + phân quyền chặn 403 + audit trail đầy đủ</a:t>
            </a:r>
            <a:endParaRPr lang="en-US" sz="1450" dirty="0"/>
          </a:p>
        </p:txBody>
      </p:sp>
      <p:sp>
        <p:nvSpPr>
          <p:cNvPr id="25" name="Text 23"/>
          <p:cNvSpPr/>
          <p:nvPr/>
        </p:nvSpPr>
        <p:spPr>
          <a:xfrm>
            <a:off x="502920" y="6473952"/>
            <a:ext cx="11155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 tiết 10 kịch bản: Bảng 7.1, Chương 7 báo cáo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9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AE8D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TRIỂN KHAI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55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5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Chạy bằng ba lệnh — deploy lên server chủ quản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783080"/>
            <a:ext cx="5577840" cy="2377440"/>
          </a:xfrm>
          <a:prstGeom prst="roundRect">
            <a:avLst>
              <a:gd name="adj" fmla="val 3846"/>
            </a:avLst>
          </a:prstGeom>
          <a:solidFill>
            <a:srgbClr val="131A1C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2011680"/>
            <a:ext cx="51206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7E8C9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khởi động toàn hệ thống
</a:t>
            </a:r>
            <a:pPr indent="0" marL="0">
              <a:buNone/>
            </a:pPr>
            <a:r>
              <a:rPr lang="en-US" sz="1300" dirty="0">
                <a:solidFill>
                  <a:srgbClr val="9FD3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compose up -d --build
</a:t>
            </a:r>
            <a:pPr indent="0" marL="0">
              <a:buNone/>
            </a:pPr>
            <a:r>
              <a:rPr lang="en-US" sz="1300" dirty="0">
                <a:solidFill>
                  <a:srgbClr val="7E8C9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sao lưu định kỳ
</a:t>
            </a:r>
            <a:pPr indent="0" marL="0">
              <a:buNone/>
            </a:pPr>
            <a:r>
              <a:rPr lang="en-US" sz="1300" dirty="0">
                <a:solidFill>
                  <a:srgbClr val="9FD3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exec qltt-db-1 pg_dump -U qltt qltt &gt; backup.sql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2920" y="443484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AE8D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8080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1554480" y="448056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Cổng đơn vị sử dụng — báo sự cố, tra cứu, theo dõi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5056632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AE8D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8081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1554480" y="5102352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Cổng quản trị — VP Cục, Lãnh đạo Cục, Ban QMS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02920" y="5678424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AE8D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3001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1554480" y="5724144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trực tiếp — /api/v1/health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46520" y="1920240"/>
            <a:ext cx="0" cy="4023360"/>
          </a:xfrm>
          <a:prstGeom prst="line">
            <a:avLst/>
          </a:prstGeom>
          <a:noFill/>
          <a:ln w="12700">
            <a:solidFill>
              <a:srgbClr val="E2E6E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12280" y="192024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6F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TÀI KHOẢN DEMO — MẬT KHẨU Abc@12345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812280" y="2331720"/>
            <a:ext cx="4892040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C9D2D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040880" y="2386584"/>
            <a:ext cx="44805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5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vanphong   </a:t>
            </a:r>
            <a:pPr indent="0" marL="0">
              <a:buNone/>
            </a:pPr>
            <a:r>
              <a:rPr lang="en-US" sz="1200" dirty="0">
                <a:solidFill>
                  <a:srgbClr val="64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Văn phòng Cục — quản trị nghiệp vụ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812280" y="3108960"/>
            <a:ext cx="4892040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C9D2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040880" y="3163824"/>
            <a:ext cx="44805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5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lanhdao   </a:t>
            </a:r>
            <a:pPr indent="0" marL="0">
              <a:buNone/>
            </a:pPr>
            <a:r>
              <a:rPr lang="en-US" sz="1200" dirty="0">
                <a:solidFill>
                  <a:srgbClr val="64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Lãnh đạo Cục — phê duyệt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812280" y="3886200"/>
            <a:ext cx="4892040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C9D2D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040880" y="3941064"/>
            <a:ext cx="44805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5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qms   </a:t>
            </a:r>
            <a:pPr indent="0" marL="0">
              <a:buNone/>
            </a:pPr>
            <a:r>
              <a:rPr lang="en-US" sz="1200" dirty="0">
                <a:solidFill>
                  <a:srgbClr val="64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 QMS — giám sát, nhật ký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812280" y="4663440"/>
            <a:ext cx="4892040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C9D2D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040880" y="4718304"/>
            <a:ext cx="44805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5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dkt / qlct   </a:t>
            </a:r>
            <a:pPr indent="0" marL="0">
              <a:buNone/>
            </a:pPr>
            <a:r>
              <a:rPr lang="en-US" sz="1200" dirty="0">
                <a:solidFill>
                  <a:srgbClr val="64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Đơn vị sử dụng — báo sự cố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02920" y="6473952"/>
            <a:ext cx="11155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Hướng dẫn chi tiết + biến môi trường: README.md và .env.example</a:t>
            </a:r>
            <a:endParaRPr lang="en-US" sz="11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31A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011680" y="4023360"/>
            <a:ext cx="5852160" cy="5852160"/>
          </a:xfrm>
          <a:prstGeom prst="ellipse">
            <a:avLst/>
          </a:prstGeom>
          <a:solidFill>
            <a:srgbClr val="1A2E33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6858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AE8D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KẾT LUẬN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31520" y="1051560"/>
            <a:ext cx="10698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Từ quy trình giấy</a:t>
            </a:r>
            <a:endParaRPr lang="en-US" sz="4000" dirty="0"/>
          </a:p>
          <a:p>
            <a:pPr indent="0" marL="0">
              <a:lnSpc>
                <a:spcPts val="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đến hệ thống chạy thật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731520" y="2971800"/>
            <a:ext cx="3429000" cy="1691640"/>
          </a:xfrm>
          <a:prstGeom prst="roundRect">
            <a:avLst>
              <a:gd name="adj" fmla="val 5405"/>
            </a:avLst>
          </a:prstGeom>
          <a:solidFill>
            <a:srgbClr val="1C2B30"/>
          </a:solidFill>
          <a:ln w="12700">
            <a:solidFill>
              <a:srgbClr val="2A404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" y="3154680"/>
            <a:ext cx="2971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AE8D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Báo cáo 44 trang
</a:t>
            </a:r>
            <a:pPr indent="0" marL="0">
              <a:buNone/>
            </a:pPr>
            <a:r>
              <a:rPr lang="en-US" sz="1250" dirty="0">
                <a:solidFill>
                  <a:srgbClr val="AEB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phân tích thiết kế chuẩn UML: use case, activity, class, sequence, state, ERD, deployment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434840" y="2971800"/>
            <a:ext cx="3429000" cy="1691640"/>
          </a:xfrm>
          <a:prstGeom prst="roundRect">
            <a:avLst>
              <a:gd name="adj" fmla="val 5405"/>
            </a:avLst>
          </a:prstGeom>
          <a:solidFill>
            <a:srgbClr val="1C2B30"/>
          </a:solidFill>
          <a:ln w="12700">
            <a:solidFill>
              <a:srgbClr val="2A404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663440" y="3154680"/>
            <a:ext cx="2971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AE8D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Nguyên mẫu hoàn chỉnh
</a:t>
            </a:r>
            <a:pPr indent="0" marL="0">
              <a:buNone/>
            </a:pPr>
            <a:r>
              <a:rPr lang="en-US" sz="1250" dirty="0">
                <a:solidFill>
                  <a:srgbClr val="AEB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cổng giao diện + API + PostgreSQL + Docker — kiểm thử 10/10 đạt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8138160" y="2971800"/>
            <a:ext cx="3429000" cy="1691640"/>
          </a:xfrm>
          <a:prstGeom prst="roundRect">
            <a:avLst>
              <a:gd name="adj" fmla="val 5405"/>
            </a:avLst>
          </a:prstGeom>
          <a:solidFill>
            <a:srgbClr val="1C2B30"/>
          </a:solidFill>
          <a:ln w="12700">
            <a:solidFill>
              <a:srgbClr val="2A404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366760" y="3154680"/>
            <a:ext cx="2971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AE8D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Truy vết hai chiều
</a:t>
            </a:r>
            <a:pPr indent="0" marL="0">
              <a:buNone/>
            </a:pPr>
            <a:r>
              <a:rPr lang="en-US" sz="1250" dirty="0">
                <a:solidFill>
                  <a:srgbClr val="AEB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mỗi màn hình, endpoint, bảng CSDL đều tra ngược về điều khoản quy trình gốc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31520" y="502920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Hướng phát triển:  </a:t>
            </a:r>
            <a:pPr indent="0" marL="0">
              <a:buNone/>
            </a:pPr>
            <a:r>
              <a:rPr lang="en-US" sz="1400" dirty="0">
                <a:solidFill>
                  <a:srgbClr val="AEB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chữ ký số (NĐ 130/2020) · SSO/AD · mobile app đẩy thông báo · mở rộng CSHT · tích hợp hệ thống tài sản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77240" y="5806440"/>
            <a:ext cx="2926080" cy="0"/>
          </a:xfrm>
          <a:prstGeom prst="line">
            <a:avLst/>
          </a:prstGeom>
          <a:noFill/>
          <a:ln w="31750">
            <a:solidFill>
              <a:srgbClr val="AE8D3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598932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FB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Cảm ơn thầy/cô và các bạn đã lắng nghe — sẵn sàng demo trực tiếp.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Hệ thống hỗ trợ QT.QLD.09.01 — Quản lý trang thiết bị</dc:title>
  <dc:subject>PptxGenJS Presentation</dc:subject>
  <dc:creator>BTL ET3161</dc:creator>
  <cp:lastModifiedBy>BTL ET3161</cp:lastModifiedBy>
  <cp:revision>1</cp:revision>
  <dcterms:created xsi:type="dcterms:W3CDTF">2026-09-17T00:32:44Z</dcterms:created>
  <dcterms:modified xsi:type="dcterms:W3CDTF">2026-09-17T00:32:44Z</dcterms:modified>
</cp:coreProperties>
</file>